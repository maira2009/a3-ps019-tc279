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27432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123A8C"/>
                </a:solidFill>
                <a:latin typeface="Arial"/>
              </a:rPr>
              <a:t>A3-PS019-TC279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863840" cy="1371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900" b="1">
                <a:solidFill>
                  <a:srgbClr val="123A8C"/>
                </a:solidFill>
                <a:latin typeface="Arial"/>
              </a:rPr>
              <a:t>PERSONAL-DATA DISCOVERY
AND PRIVACY EVIDENCE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971800"/>
            <a:ext cx="36576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1">
                <a:solidFill>
                  <a:srgbClr val="16A6C0"/>
                </a:solidFill>
                <a:latin typeface="Arial"/>
              </a:rPr>
              <a:t>TraceLens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520440"/>
            <a:ext cx="777240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rial"/>
              </a:rPr>
              <a:t>Discover personal data. Trace where it appears. Identify missing evidence.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389120"/>
            <a:ext cx="7132320" cy="16459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66344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Team TraceLens  ·  Submitter: Maira Mittal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047488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5B6470"/>
                </a:solidFill>
                <a:latin typeface="Arial"/>
              </a:rPr>
              <a:t>AIORI Hackathon 3  ·  Chitkara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394960"/>
            <a:ext cx="36576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5B6470"/>
                </a:solidFill>
                <a:latin typeface="Arial"/>
              </a:rPr>
              <a:t>October 14, 2026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8613648" y="1481328"/>
            <a:ext cx="1216152" cy="1033272"/>
          </a:xfrm>
          <a:prstGeom prst="line">
            <a:avLst/>
          </a:prstGeom>
          <a:ln w="19050">
            <a:solidFill>
              <a:srgbClr val="16A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412480" y="1280160"/>
            <a:ext cx="411480" cy="411480"/>
          </a:xfrm>
          <a:prstGeom prst="roundRect">
            <a:avLst/>
          </a:prstGeom>
          <a:solidFill>
            <a:srgbClr val="16A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783080"/>
            <a:ext cx="10058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5B6470"/>
                </a:solidFill>
                <a:latin typeface="Arial"/>
              </a:rPr>
              <a:t>CSV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829800" y="1481328"/>
            <a:ext cx="1252728" cy="1033272"/>
          </a:xfrm>
          <a:prstGeom prst="line">
            <a:avLst/>
          </a:prstGeom>
          <a:ln w="19050">
            <a:solidFill>
              <a:srgbClr val="238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881360" y="1280160"/>
            <a:ext cx="411480" cy="411480"/>
          </a:xfrm>
          <a:prstGeom prst="roundRect">
            <a:avLst/>
          </a:prstGeom>
          <a:solidFill>
            <a:srgbClr val="238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52760" y="1783080"/>
            <a:ext cx="10058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5B6470"/>
                </a:solidFill>
                <a:latin typeface="Arial"/>
              </a:rPr>
              <a:t>SQL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8613648" y="2514600"/>
            <a:ext cx="1216152" cy="1344168"/>
          </a:xfrm>
          <a:prstGeom prst="line">
            <a:avLst/>
          </a:prstGeom>
          <a:ln w="19050">
            <a:solidFill>
              <a:srgbClr val="C28B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412480" y="3657600"/>
            <a:ext cx="411480" cy="411480"/>
          </a:xfrm>
          <a:prstGeom prst="roundRect">
            <a:avLst/>
          </a:prstGeom>
          <a:solidFill>
            <a:srgbClr val="C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4160520"/>
            <a:ext cx="10058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5B6470"/>
                </a:solidFill>
                <a:latin typeface="Arial"/>
              </a:rPr>
              <a:t>EVENTS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29800" y="2514600"/>
            <a:ext cx="1252728" cy="1344168"/>
          </a:xfrm>
          <a:prstGeom prst="line">
            <a:avLst/>
          </a:prstGeom>
          <a:ln w="19050">
            <a:solidFill>
              <a:srgbClr val="123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881360" y="3657600"/>
            <a:ext cx="411480" cy="411480"/>
          </a:xfrm>
          <a:prstGeom prst="roundRect">
            <a:avLst/>
          </a:prstGeom>
          <a:solidFill>
            <a:srgbClr val="12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52760" y="4160520"/>
            <a:ext cx="100584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900" b="1">
                <a:solidFill>
                  <a:srgbClr val="5B6470"/>
                </a:solidFill>
                <a:latin typeface="Arial"/>
              </a:rPr>
              <a:t>SUPPORT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2103120"/>
            <a:ext cx="822960" cy="822960"/>
          </a:xfrm>
          <a:prstGeom prst="roundRect">
            <a:avLst/>
          </a:prstGeom>
          <a:solidFill>
            <a:srgbClr val="EAF7FA"/>
          </a:solidFill>
          <a:ln>
            <a:solidFill>
              <a:srgbClr val="16A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37192" y="2395728"/>
            <a:ext cx="594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123A8C"/>
                </a:solidFill>
                <a:latin typeface="Arial"/>
              </a:rPr>
              <a:t>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23A8C"/>
                </a:solidFill>
                <a:latin typeface="Arial"/>
              </a:rPr>
              <a:t>AIORI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"/>
            <a:ext cx="8686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23A8C"/>
                </a:solidFill>
                <a:latin typeface="Arial"/>
              </a:rPr>
              <a:t>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23A8C"/>
                </a:solidFill>
                <a:latin typeface="Arial"/>
              </a:rPr>
              <a:t>TraceLens  ·  A3-PS019-TC279  ·  14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731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123A8C"/>
                </a:solidFill>
                <a:latin typeface="Arial"/>
              </a:rPr>
              <a:t>2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49808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23A8C"/>
                </a:solidFill>
                <a:latin typeface="Arial"/>
              </a:rPr>
              <a:t>Abstract &amp; Problem 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399032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5B6470"/>
                </a:solidFill>
                <a:latin typeface="Arial"/>
              </a:rPr>
              <a:t>Abstract: DATAQUEST scans structured sources and creates an evidence-backed inventory of potential personal-data fields, possible cross-source overlaps, and missing purpose/retention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20240"/>
            <a:ext cx="45720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1">
                <a:solidFill>
                  <a:srgbClr val="123A8C"/>
                </a:solidFill>
                <a:latin typeface="Arial"/>
              </a:rPr>
              <a:t>Problem 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31720"/>
            <a:ext cx="10698480" cy="3566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 Personal data can be stored across CSV files and SQL tables.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 The same kind of data may appear under different field names.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 Purpose and retention information may be missing or difficult to locate.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 Manual searches make cross-source discovery hard to repeat.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 The goal is a clear, reviewable inventory—not an automatic legal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23A8C"/>
                </a:solidFill>
                <a:latin typeface="Arial"/>
              </a:rPr>
              <a:t>AIORI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"/>
            <a:ext cx="8686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23A8C"/>
                </a:solidFill>
                <a:latin typeface="Arial"/>
              </a:rPr>
              <a:t>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23A8C"/>
                </a:solidFill>
                <a:latin typeface="Arial"/>
              </a:rPr>
              <a:t>TraceLens  ·  A3-PS019-TC279  ·  14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731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123A8C"/>
                </a:solidFill>
                <a:latin typeface="Arial"/>
              </a:rPr>
              <a:t>3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49808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23A8C"/>
                </a:solidFill>
                <a:latin typeface="Arial"/>
              </a:rPr>
              <a:t>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399032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5B6470"/>
                </a:solidFill>
                <a:latin typeface="Arial"/>
              </a:rPr>
              <a:t>The prototype follows a simple, reviewable 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10698480" cy="3566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 Input sources: multiple CSV files and a SQLite database.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 Profiling checks field names, data types, and sample values.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 Configurable rules identify potential matches to five configured prototype classes.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 Footprint matching groups possible overlaps across sources.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 Metadata checks show whether purpose and retention evidence is present.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•  Human review and a manually labelled sample help assess the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23A8C"/>
                </a:solidFill>
                <a:latin typeface="Arial"/>
              </a:rPr>
              <a:t>AIORI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"/>
            <a:ext cx="8686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23A8C"/>
                </a:solidFill>
                <a:latin typeface="Arial"/>
              </a:rPr>
              <a:t>Literature &amp; RFC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23A8C"/>
                </a:solidFill>
                <a:latin typeface="Arial"/>
              </a:rPr>
              <a:t>TraceLens  ·  A3-PS019-TC279  ·  14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731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123A8C"/>
                </a:solidFill>
                <a:latin typeface="Arial"/>
              </a:rPr>
              <a:t>4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49808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23A8C"/>
                </a:solidFill>
                <a:latin typeface="Arial"/>
              </a:rPr>
              <a:t>Literature &amp; RFC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399032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5B6470"/>
                </a:solidFill>
                <a:latin typeface="Arial"/>
              </a:rPr>
              <a:t>Relevant guidance used as context for the design.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10698480" cy="3566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 NIST Privacy Framework 1.0 (2020): supports identifying and managing privacy risks [1].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 GDPR Article 5: includes purpose limitation, data minimisation, and storage limitation [2].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 GDPR Article 30: describes records of processing activities for applicable organisations [2].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 Design takeaway: record where a potential field appears and whether purpose/retention evidence exists.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 Boundary: the prototype provides technical evidence; it does not determine legal compliance.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760720"/>
            <a:ext cx="10835640" cy="384048"/>
          </a:xfrm>
          <a:prstGeom prst="roundRect">
            <a:avLst/>
          </a:prstGeom>
          <a:solidFill>
            <a:srgbClr val="EA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833872"/>
            <a:ext cx="10424160" cy="228600"/>
          </a:xfrm>
          <a:prstGeom prst="rect">
            <a:avLst/>
          </a:prstGeom>
          <a:noFill/>
        </p:spPr>
        <p:txBody>
          <a:bodyPr wrap="square" lIns="18288" rIns="18288" tIns="4572" bIns="4572">
            <a:spAutoFit/>
          </a:bodyPr>
          <a:lstStyle/>
          <a:p>
            <a:pPr algn="l"/>
            <a:r>
              <a:rPr sz="1050">
                <a:solidFill>
                  <a:srgbClr val="123A8C"/>
                </a:solidFill>
                <a:latin typeface="Arial"/>
              </a:rPr>
              <a:t>Privacy guidance informs design; it does not prove legal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23A8C"/>
                </a:solidFill>
                <a:latin typeface="Arial"/>
              </a:rPr>
              <a:t>AIORI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"/>
            <a:ext cx="8686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23A8C"/>
                </a:solidFill>
                <a:latin typeface="Arial"/>
              </a:rPr>
              <a:t>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23A8C"/>
                </a:solidFill>
                <a:latin typeface="Arial"/>
              </a:rPr>
              <a:t>TraceLens  ·  A3-PS019-TC279  ·  14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731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123A8C"/>
                </a:solidFill>
                <a:latin typeface="Arial"/>
              </a:rPr>
              <a:t>5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49808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23A8C"/>
                </a:solidFill>
                <a:latin typeface="Arial"/>
              </a:rPr>
              <a:t>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399032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5B6470"/>
                </a:solidFill>
                <a:latin typeface="Arial"/>
              </a:rPr>
              <a:t>DATAQUEST is a local web prototype for structured data discovery.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10698480" cy="3566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 Load multiple CSV files and a SQLite database.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 Scan fields using configurable aliases, patterns, and evidence signals.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 Show potential personal-data findings and their source locations.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 Group possible repeated values across sources into a footprint.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 Map declared purpose and retention information and flag missing evidence.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•  Let a human accept, reject, or revisit uncertain findings; export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687568"/>
            <a:ext cx="10835640" cy="384048"/>
          </a:xfrm>
          <a:prstGeom prst="roundRect">
            <a:avLst/>
          </a:prstGeom>
          <a:solidFill>
            <a:srgbClr val="EA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760720"/>
            <a:ext cx="10424160" cy="228600"/>
          </a:xfrm>
          <a:prstGeom prst="rect">
            <a:avLst/>
          </a:prstGeom>
          <a:noFill/>
        </p:spPr>
        <p:txBody>
          <a:bodyPr wrap="square" lIns="18288" rIns="18288" tIns="4572" bIns="4572">
            <a:spAutoFit/>
          </a:bodyPr>
          <a:lstStyle/>
          <a:p>
            <a:pPr algn="l"/>
            <a:r>
              <a:rPr sz="1050">
                <a:solidFill>
                  <a:srgbClr val="123A8C"/>
                </a:solidFill>
                <a:latin typeface="Arial"/>
              </a:rPr>
              <a:t>One scan. Multiple sources. A reviewable privacy evidence inventory.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23A8C"/>
                </a:solidFill>
                <a:latin typeface="Arial"/>
              </a:rPr>
              <a:t>AIORI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"/>
            <a:ext cx="8686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23A8C"/>
                </a:solidFill>
                <a:latin typeface="Arial"/>
              </a:rPr>
              <a:t>Solution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23A8C"/>
                </a:solidFill>
                <a:latin typeface="Arial"/>
              </a:rPr>
              <a:t>TraceLens  ·  A3-PS019-TC279  ·  14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731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123A8C"/>
                </a:solidFill>
                <a:latin typeface="Arial"/>
              </a:rPr>
              <a:t>6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49808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23A8C"/>
                </a:solidFill>
                <a:latin typeface="Arial"/>
              </a:rPr>
              <a:t>Optimization Proposed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399032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5B6470"/>
                </a:solidFill>
                <a:latin typeface="Arial"/>
              </a:rPr>
              <a:t>Before-and-after comparison of the workflow.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011680"/>
            <a:ext cx="1645920" cy="425196"/>
          </a:xfrm>
          <a:prstGeom prst="rect">
            <a:avLst/>
          </a:prstGeom>
          <a:solidFill>
            <a:srgbClr val="123A8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084832"/>
            <a:ext cx="148132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AREA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011680"/>
            <a:ext cx="4023360" cy="425196"/>
          </a:xfrm>
          <a:prstGeom prst="rect">
            <a:avLst/>
          </a:prstGeom>
          <a:solidFill>
            <a:srgbClr val="123A8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9736" y="2084832"/>
            <a:ext cx="385876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BEFORE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011680"/>
            <a:ext cx="5166360" cy="425196"/>
          </a:xfrm>
          <a:prstGeom prst="rect">
            <a:avLst/>
          </a:prstGeom>
          <a:solidFill>
            <a:srgbClr val="123A8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2084832"/>
            <a:ext cx="500176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AFTER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459736"/>
            <a:ext cx="1645920" cy="425196"/>
          </a:xfrm>
          <a:prstGeom prst="rect">
            <a:avLst/>
          </a:prstGeom>
          <a:solidFill>
            <a:srgbClr val="FFFFFF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2532888"/>
            <a:ext cx="148132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Discovery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459736"/>
            <a:ext cx="4023360" cy="425196"/>
          </a:xfrm>
          <a:prstGeom prst="rect">
            <a:avLst/>
          </a:prstGeom>
          <a:solidFill>
            <a:srgbClr val="FFFFFF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59736" y="2532888"/>
            <a:ext cx="385876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Search files/tables separately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459736"/>
            <a:ext cx="5166360" cy="425196"/>
          </a:xfrm>
          <a:prstGeom prst="rect">
            <a:avLst/>
          </a:prstGeom>
          <a:solidFill>
            <a:srgbClr val="FFFFFF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2532888"/>
            <a:ext cx="500176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Scan CSV + SQLite in one workflow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907792"/>
            <a:ext cx="1645920" cy="425196"/>
          </a:xfrm>
          <a:prstGeom prst="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2980944"/>
            <a:ext cx="148132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2907792"/>
            <a:ext cx="4023360" cy="425196"/>
          </a:xfrm>
          <a:prstGeom prst="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59736" y="2980944"/>
            <a:ext cx="385876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Rationale is scattered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907792"/>
            <a:ext cx="5166360" cy="425196"/>
          </a:xfrm>
          <a:prstGeom prst="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3096" y="2980944"/>
            <a:ext cx="500176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Show field location and detection evidence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355848"/>
            <a:ext cx="1645920" cy="425196"/>
          </a:xfrm>
          <a:prstGeom prst="rect">
            <a:avLst/>
          </a:prstGeom>
          <a:solidFill>
            <a:srgbClr val="FFFFFF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3429000"/>
            <a:ext cx="148132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Footprint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3355848"/>
            <a:ext cx="4023360" cy="425196"/>
          </a:xfrm>
          <a:prstGeom prst="rect">
            <a:avLst/>
          </a:prstGeom>
          <a:solidFill>
            <a:srgbClr val="FFFFFF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59736" y="3429000"/>
            <a:ext cx="385876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Repeated values are hard to spot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355848"/>
            <a:ext cx="5166360" cy="425196"/>
          </a:xfrm>
          <a:prstGeom prst="rect">
            <a:avLst/>
          </a:prstGeom>
          <a:solidFill>
            <a:srgbClr val="FFFFFF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3096" y="3429000"/>
            <a:ext cx="500176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Group possible overlaps across sources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803904"/>
            <a:ext cx="1645920" cy="425196"/>
          </a:xfrm>
          <a:prstGeom prst="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" y="3877056"/>
            <a:ext cx="148132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Metadata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3803904"/>
            <a:ext cx="4023360" cy="425196"/>
          </a:xfrm>
          <a:prstGeom prst="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59736" y="3877056"/>
            <a:ext cx="385876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Gaps can be missed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803904"/>
            <a:ext cx="5166360" cy="425196"/>
          </a:xfrm>
          <a:prstGeom prst="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83096" y="3877056"/>
            <a:ext cx="500176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Highlight missing purpose/retention evidence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251960"/>
            <a:ext cx="1645920" cy="425196"/>
          </a:xfrm>
          <a:prstGeom prst="rect">
            <a:avLst/>
          </a:prstGeom>
          <a:solidFill>
            <a:srgbClr val="FFFFFF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" y="4325112"/>
            <a:ext cx="148132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77440" y="4251960"/>
            <a:ext cx="4023360" cy="425196"/>
          </a:xfrm>
          <a:prstGeom prst="rect">
            <a:avLst/>
          </a:prstGeom>
          <a:solidFill>
            <a:srgbClr val="FFFFFF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59736" y="4325112"/>
            <a:ext cx="385876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Uncertainty handled informally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251960"/>
            <a:ext cx="5166360" cy="425196"/>
          </a:xfrm>
          <a:prstGeom prst="rect">
            <a:avLst/>
          </a:prstGeom>
          <a:solidFill>
            <a:srgbClr val="FFFFFF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83096" y="4325112"/>
            <a:ext cx="500176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Record review decisions and notes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700016"/>
            <a:ext cx="1645920" cy="425196"/>
          </a:xfrm>
          <a:prstGeom prst="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6" y="4773168"/>
            <a:ext cx="148132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Evaluation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4700016"/>
            <a:ext cx="4023360" cy="425196"/>
          </a:xfrm>
          <a:prstGeom prst="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59736" y="4773168"/>
            <a:ext cx="385876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Hard to measure results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4700016"/>
            <a:ext cx="5166360" cy="425196"/>
          </a:xfrm>
          <a:prstGeom prst="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83096" y="4773168"/>
            <a:ext cx="500176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Calculate per-class precision and recall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" y="5596128"/>
            <a:ext cx="10835640" cy="384048"/>
          </a:xfrm>
          <a:prstGeom prst="roundRect">
            <a:avLst/>
          </a:prstGeom>
          <a:solidFill>
            <a:srgbClr val="EA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5669280"/>
            <a:ext cx="10424160" cy="228600"/>
          </a:xfrm>
          <a:prstGeom prst="rect">
            <a:avLst/>
          </a:prstGeom>
          <a:noFill/>
        </p:spPr>
        <p:txBody>
          <a:bodyPr wrap="square" lIns="18288" rIns="18288" tIns="4572" bIns="4572">
            <a:spAutoFit/>
          </a:bodyPr>
          <a:lstStyle/>
          <a:p>
            <a:pPr algn="l"/>
            <a:r>
              <a:rPr sz="1050">
                <a:solidFill>
                  <a:srgbClr val="123A8C"/>
                </a:solidFill>
                <a:latin typeface="Arial"/>
              </a:rPr>
              <a:t>The 19-field benchmark is a starting point—not proof of general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23A8C"/>
                </a:solidFill>
                <a:latin typeface="Arial"/>
              </a:rPr>
              <a:t>AIORI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"/>
            <a:ext cx="8686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23A8C"/>
                </a:solidFill>
                <a:latin typeface="Arial"/>
              </a:rPr>
              <a:t>Architecture Design (UML Diagram)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23A8C"/>
                </a:solidFill>
                <a:latin typeface="Arial"/>
              </a:rPr>
              <a:t>TraceLens  ·  A3-PS019-TC279  ·  14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731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123A8C"/>
                </a:solidFill>
                <a:latin typeface="Arial"/>
              </a:rPr>
              <a:t>7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49808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23A8C"/>
                </a:solidFill>
                <a:latin typeface="Arial"/>
              </a:rPr>
              <a:t>Solution Architecture &amp;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399032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5B6470"/>
                </a:solidFill>
                <a:latin typeface="Arial"/>
              </a:rPr>
              <a:t>Flowchart of the main processing steps.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743200"/>
            <a:ext cx="1417320" cy="1051560"/>
          </a:xfrm>
          <a:prstGeom prst="round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52928"/>
            <a:ext cx="228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16A6C0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118872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123A8C"/>
                </a:solidFill>
                <a:latin typeface="Arial"/>
              </a:rPr>
              <a:t>CSV + SQLite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47672" y="3264408"/>
            <a:ext cx="228600" cy="0"/>
          </a:xfrm>
          <a:prstGeom prst="line">
            <a:avLst/>
          </a:prstGeom>
          <a:ln w="19050">
            <a:solidFill>
              <a:srgbClr val="16A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194560" y="2743200"/>
            <a:ext cx="1417320" cy="1051560"/>
          </a:xfrm>
          <a:prstGeom prst="round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04288" y="2852928"/>
            <a:ext cx="228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16A6C0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3154680"/>
            <a:ext cx="118872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123A8C"/>
                </a:solidFill>
                <a:latin typeface="Arial"/>
              </a:rPr>
              <a:t>Profile fields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11880" y="3264408"/>
            <a:ext cx="228600" cy="0"/>
          </a:xfrm>
          <a:prstGeom prst="line">
            <a:avLst/>
          </a:prstGeom>
          <a:ln w="19050">
            <a:solidFill>
              <a:srgbClr val="16A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58768" y="2743200"/>
            <a:ext cx="1417320" cy="1051560"/>
          </a:xfrm>
          <a:prstGeom prst="round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8496" y="2852928"/>
            <a:ext cx="228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16A6C0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8496" y="3154680"/>
            <a:ext cx="118872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123A8C"/>
                </a:solidFill>
                <a:latin typeface="Arial"/>
              </a:rPr>
              <a:t>Detect with rules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76088" y="3264408"/>
            <a:ext cx="228600" cy="0"/>
          </a:xfrm>
          <a:prstGeom prst="line">
            <a:avLst/>
          </a:prstGeom>
          <a:ln w="19050">
            <a:solidFill>
              <a:srgbClr val="16A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522976" y="2743200"/>
            <a:ext cx="1417320" cy="1051560"/>
          </a:xfrm>
          <a:prstGeom prst="round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32704" y="2852928"/>
            <a:ext cx="228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16A6C0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32704" y="3154680"/>
            <a:ext cx="118872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123A8C"/>
                </a:solidFill>
                <a:latin typeface="Arial"/>
              </a:rPr>
              <a:t>Group overlaps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40296" y="3264408"/>
            <a:ext cx="228600" cy="0"/>
          </a:xfrm>
          <a:prstGeom prst="line">
            <a:avLst/>
          </a:prstGeom>
          <a:ln w="19050">
            <a:solidFill>
              <a:srgbClr val="16A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87184" y="2743200"/>
            <a:ext cx="1417320" cy="1051560"/>
          </a:xfrm>
          <a:prstGeom prst="round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96912" y="2852928"/>
            <a:ext cx="228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16A6C0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6912" y="3154680"/>
            <a:ext cx="118872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123A8C"/>
                </a:solidFill>
                <a:latin typeface="Arial"/>
              </a:rPr>
              <a:t>Check metadata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04504" y="3264408"/>
            <a:ext cx="228600" cy="0"/>
          </a:xfrm>
          <a:prstGeom prst="line">
            <a:avLst/>
          </a:prstGeom>
          <a:ln w="19050">
            <a:solidFill>
              <a:srgbClr val="16A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851392" y="2743200"/>
            <a:ext cx="1417320" cy="1051560"/>
          </a:xfrm>
          <a:prstGeom prst="round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19" y="2852928"/>
            <a:ext cx="228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16A6C0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19" y="3154680"/>
            <a:ext cx="118872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123A8C"/>
                </a:solidFill>
                <a:latin typeface="Arial"/>
              </a:rPr>
              <a:t>Human review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268712" y="3264408"/>
            <a:ext cx="228600" cy="0"/>
          </a:xfrm>
          <a:prstGeom prst="line">
            <a:avLst/>
          </a:prstGeom>
          <a:ln w="19050">
            <a:solidFill>
              <a:srgbClr val="16A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515600" y="2743200"/>
            <a:ext cx="1417320" cy="1051560"/>
          </a:xfrm>
          <a:prstGeom prst="round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25328" y="2852928"/>
            <a:ext cx="228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16A6C0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25328" y="3154680"/>
            <a:ext cx="118872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123A8C"/>
                </a:solidFill>
                <a:latin typeface="Arial"/>
              </a:rPr>
              <a:t>Inventory + reports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389120"/>
            <a:ext cx="105156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Arial"/>
              </a:rPr>
              <a:t>Supporting inputs: detection rules  ·  purpose/retention declarations  ·  manually labelled evaluation set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705856"/>
            <a:ext cx="10835640" cy="384048"/>
          </a:xfrm>
          <a:prstGeom prst="roundRect">
            <a:avLst/>
          </a:prstGeom>
          <a:solidFill>
            <a:srgbClr val="EA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779008"/>
            <a:ext cx="10424160" cy="228600"/>
          </a:xfrm>
          <a:prstGeom prst="rect">
            <a:avLst/>
          </a:prstGeom>
          <a:noFill/>
        </p:spPr>
        <p:txBody>
          <a:bodyPr wrap="square" lIns="18288" rIns="18288" tIns="4572" bIns="4572">
            <a:spAutoFit/>
          </a:bodyPr>
          <a:lstStyle/>
          <a:p>
            <a:pPr algn="l"/>
            <a:r>
              <a:rPr sz="1050">
                <a:solidFill>
                  <a:srgbClr val="123A8C"/>
                </a:solidFill>
                <a:latin typeface="Arial"/>
              </a:rPr>
              <a:t>Evidence strength is not a calibrated probability.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23A8C"/>
                </a:solidFill>
                <a:latin typeface="Arial"/>
              </a:rPr>
              <a:t>AIORI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"/>
            <a:ext cx="8686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23A8C"/>
                </a:solidFill>
                <a:latin typeface="Arial"/>
              </a:rPr>
              <a:t>Data Flow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23A8C"/>
                </a:solidFill>
                <a:latin typeface="Arial"/>
              </a:rPr>
              <a:t>TraceLens  ·  A3-PS019-TC279  ·  14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731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123A8C"/>
                </a:solidFill>
                <a:latin typeface="Arial"/>
              </a:rPr>
              <a:t>8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49808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23A8C"/>
                </a:solidFill>
                <a:latin typeface="Arial"/>
              </a:rPr>
              <a:t>Data Flow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399032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5B6470"/>
                </a:solidFill>
                <a:latin typeface="Arial"/>
              </a:rPr>
              <a:t>Overview of the inputs, processing, and outputs.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560320"/>
            <a:ext cx="1645920" cy="1143000"/>
          </a:xfrm>
          <a:prstGeom prst="round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724912"/>
            <a:ext cx="1417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16A6C0"/>
                </a:solidFill>
                <a:latin typeface="Arial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017520"/>
            <a:ext cx="141732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rial"/>
              </a:rPr>
              <a:t>CSV files
SQLite 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560320"/>
            <a:ext cx="1645920" cy="1143000"/>
          </a:xfrm>
          <a:prstGeom prst="round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8648" y="2724912"/>
            <a:ext cx="1417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123A8C"/>
                </a:solidFill>
                <a:latin typeface="Arial"/>
              </a:rPr>
              <a:t>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017520"/>
            <a:ext cx="141732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rial"/>
              </a:rPr>
              <a:t>Profile
Detect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2560320"/>
            <a:ext cx="1645920" cy="1143000"/>
          </a:xfrm>
          <a:prstGeom prst="round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3208" y="2724912"/>
            <a:ext cx="1417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23856D"/>
                </a:solidFill>
                <a:latin typeface="Arial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3208" y="3017520"/>
            <a:ext cx="141732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rial"/>
              </a:rPr>
              <a:t>Findings
Locations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2560320"/>
            <a:ext cx="1645920" cy="1143000"/>
          </a:xfrm>
          <a:prstGeom prst="round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768" y="2724912"/>
            <a:ext cx="1417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C28B22"/>
                </a:solidFill>
                <a:latin typeface="Arial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3017520"/>
            <a:ext cx="141732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rial"/>
              </a:rPr>
              <a:t>Human
Decision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2560320"/>
            <a:ext cx="1645920" cy="1143000"/>
          </a:xfrm>
          <a:prstGeom prst="roundRect">
            <a:avLst/>
          </a:prstGeom>
          <a:solidFill>
            <a:srgbClr val="F6FAFC"/>
          </a:solidFill>
          <a:ln>
            <a:solidFill>
              <a:srgbClr val="D6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2328" y="2724912"/>
            <a:ext cx="141732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123A8C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3017520"/>
            <a:ext cx="141732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rial"/>
              </a:rPr>
              <a:t>Inventory
Reports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40280" y="3136392"/>
            <a:ext cx="548640" cy="0"/>
          </a:xfrm>
          <a:prstGeom prst="line">
            <a:avLst/>
          </a:prstGeom>
          <a:ln w="19050">
            <a:solidFill>
              <a:srgbClr val="16A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434840" y="3136392"/>
            <a:ext cx="548639" cy="0"/>
          </a:xfrm>
          <a:prstGeom prst="line">
            <a:avLst/>
          </a:prstGeom>
          <a:ln w="19050">
            <a:solidFill>
              <a:srgbClr val="16A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629400" y="3136392"/>
            <a:ext cx="548640" cy="0"/>
          </a:xfrm>
          <a:prstGeom prst="line">
            <a:avLst/>
          </a:prstGeom>
          <a:ln w="19050">
            <a:solidFill>
              <a:srgbClr val="16A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823959" y="3136392"/>
            <a:ext cx="548640" cy="0"/>
          </a:xfrm>
          <a:prstGeom prst="line">
            <a:avLst/>
          </a:prstGeom>
          <a:ln w="19050">
            <a:solidFill>
              <a:srgbClr val="16A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2960" y="4160520"/>
            <a:ext cx="4937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123A8C"/>
                </a:solidFill>
                <a:latin typeface="Arial"/>
              </a:rPr>
              <a:t>Metadata declarations → purpose / retention checks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160520"/>
            <a:ext cx="45720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123A8C"/>
                </a:solidFill>
                <a:latin typeface="Arial"/>
              </a:rPr>
              <a:t>Manual labels → precision / recall evaluation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705856"/>
            <a:ext cx="10835640" cy="384048"/>
          </a:xfrm>
          <a:prstGeom prst="roundRect">
            <a:avLst/>
          </a:prstGeom>
          <a:solidFill>
            <a:srgbClr val="EA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779008"/>
            <a:ext cx="10424160" cy="228600"/>
          </a:xfrm>
          <a:prstGeom prst="rect">
            <a:avLst/>
          </a:prstGeom>
          <a:noFill/>
        </p:spPr>
        <p:txBody>
          <a:bodyPr wrap="square" lIns="18288" rIns="18288" tIns="4572" bIns="4572">
            <a:spAutoFit/>
          </a:bodyPr>
          <a:lstStyle/>
          <a:p>
            <a:pPr algn="l"/>
            <a:r>
              <a:rPr sz="1050">
                <a:solidFill>
                  <a:srgbClr val="123A8C"/>
                </a:solidFill>
                <a:latin typeface="Arial"/>
              </a:rPr>
              <a:t>Use synthetic demo data, never real sensitive records.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23A8C"/>
                </a:solidFill>
                <a:latin typeface="Arial"/>
              </a:rPr>
              <a:t>AIORI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"/>
            <a:ext cx="8686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23A8C"/>
                </a:solidFill>
                <a:latin typeface="Arial"/>
              </a:rPr>
              <a:t>Deployment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23A8C"/>
                </a:solidFill>
                <a:latin typeface="Arial"/>
              </a:rPr>
              <a:t>TraceLens  ·  A3-PS019-TC279  ·  14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731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123A8C"/>
                </a:solidFill>
                <a:latin typeface="Arial"/>
              </a:rPr>
              <a:t>9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49808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23A8C"/>
                </a:solidFill>
                <a:latin typeface="Arial"/>
              </a:rPr>
              <a:t>Deployment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399032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5B6470"/>
                </a:solidFill>
                <a:latin typeface="Arial"/>
              </a:rPr>
              <a:t>Milestones for a reproducible demo and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240280"/>
            <a:ext cx="594360" cy="594360"/>
          </a:xfrm>
          <a:prstGeom prst="roundRect">
            <a:avLst/>
          </a:prstGeom>
          <a:solidFill>
            <a:srgbClr val="16A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404872"/>
            <a:ext cx="594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16459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123A8C"/>
                </a:solidFill>
                <a:latin typeface="Arial"/>
              </a:rPr>
              <a:t>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164592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rial"/>
              </a:rPr>
              <a:t>Confirm required classes
Use synthetic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240280"/>
            <a:ext cx="594360" cy="594360"/>
          </a:xfrm>
          <a:prstGeom prst="roundRect">
            <a:avLst/>
          </a:prstGeom>
          <a:solidFill>
            <a:srgbClr val="12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404872"/>
            <a:ext cx="594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971800"/>
            <a:ext cx="16459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123A8C"/>
                </a:solidFill>
                <a:latin typeface="Arial"/>
              </a:rPr>
              <a:t>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383280"/>
            <a:ext cx="164592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rial"/>
              </a:rPr>
              <a:t>Start backend/frontend
Check API health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2240280"/>
            <a:ext cx="594360" cy="594360"/>
          </a:xfrm>
          <a:prstGeom prst="roundRect">
            <a:avLst/>
          </a:prstGeom>
          <a:solidFill>
            <a:srgbClr val="238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2404872"/>
            <a:ext cx="594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971800"/>
            <a:ext cx="16459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123A8C"/>
                </a:solidFill>
                <a:latin typeface="Arial"/>
              </a:rPr>
              <a:t>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383280"/>
            <a:ext cx="164592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rial"/>
              </a:rPr>
              <a:t>Review inventory
footprint + metadata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2240280"/>
            <a:ext cx="594360" cy="594360"/>
          </a:xfrm>
          <a:prstGeom prst="roundRect">
            <a:avLst/>
          </a:prstGeom>
          <a:solidFill>
            <a:srgbClr val="C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2404872"/>
            <a:ext cx="594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971800"/>
            <a:ext cx="16459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123A8C"/>
                </a:solidFill>
                <a:latin typeface="Arial"/>
              </a:rP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383280"/>
            <a:ext cx="164592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rial"/>
              </a:rPr>
              <a:t>Run tests
state limits honestly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7000" y="2240280"/>
            <a:ext cx="594360" cy="594360"/>
          </a:xfrm>
          <a:prstGeom prst="roundRect">
            <a:avLst/>
          </a:prstGeom>
          <a:solidFill>
            <a:srgbClr val="12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87000" y="2404872"/>
            <a:ext cx="594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971800"/>
            <a:ext cx="16459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123A8C"/>
                </a:solidFill>
                <a:latin typeface="Arial"/>
              </a:rPr>
              <a:t>Submit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3383280"/>
            <a:ext cx="164592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Arial"/>
              </a:rPr>
              <a:t>Upload PDF, code
and demo link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321808"/>
            <a:ext cx="10835640" cy="384048"/>
          </a:xfrm>
          <a:prstGeom prst="roundRect">
            <a:avLst/>
          </a:prstGeom>
          <a:solidFill>
            <a:srgbClr val="EA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394960"/>
            <a:ext cx="10424160" cy="228600"/>
          </a:xfrm>
          <a:prstGeom prst="rect">
            <a:avLst/>
          </a:prstGeom>
          <a:noFill/>
        </p:spPr>
        <p:txBody>
          <a:bodyPr wrap="square" lIns="18288" rIns="18288" tIns="4572" bIns="4572">
            <a:spAutoFit/>
          </a:bodyPr>
          <a:lstStyle/>
          <a:p>
            <a:pPr algn="l"/>
            <a:r>
              <a:rPr sz="1050">
                <a:solidFill>
                  <a:srgbClr val="123A8C"/>
                </a:solidFill>
                <a:latin typeface="Arial"/>
              </a:rPr>
              <a:t>Before presenting, verify the complete workflow end-to-end.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123A8C"/>
                </a:solidFill>
                <a:latin typeface="Arial"/>
              </a:rPr>
              <a:t>AIORI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"/>
            <a:ext cx="8686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23A8C"/>
                </a:solidFill>
                <a:latin typeface="Arial"/>
              </a:rPr>
              <a:t>Bibliography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00" b="0">
                <a:solidFill>
                  <a:srgbClr val="123A8C"/>
                </a:solidFill>
                <a:latin typeface="Arial"/>
              </a:rPr>
              <a:t>TraceLens  ·  A3-PS019-TC279  ·  14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56248"/>
            <a:ext cx="731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>
                <a:solidFill>
                  <a:srgbClr val="123A8C"/>
                </a:solidFill>
                <a:latin typeface="Arial"/>
              </a:rPr>
              <a:t>10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49808"/>
            <a:ext cx="1088136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23A8C"/>
                </a:solidFill>
                <a:latin typeface="Arial"/>
              </a:rPr>
              <a:t>Bibliography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399032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5B6470"/>
                </a:solidFill>
                <a:latin typeface="Arial"/>
              </a:rPr>
              <a:t>Sources referenced in the presentation.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40280"/>
            <a:ext cx="10698480" cy="3566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24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 [1] National Institute of Standards and Technology. NIST Privacy Framework, Version 1.0, 2020. https://www.nist.gov/privacy-framework</a:t>
            </a:r>
          </a:p>
          <a:p>
            <a:pPr>
              <a:spcAft>
                <a:spcPts val="24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 [2] European Parliament and Council. Regulation (EU) 2016/679 (GDPR), Articles 5 and 30. https://eur-lex.europa.eu/eli/reg/2016/679/oj</a:t>
            </a:r>
          </a:p>
          <a:p>
            <a:pPr>
              <a:spcAft>
                <a:spcPts val="2400"/>
              </a:spcAft>
              <a:defRPr sz="1500">
                <a:solidFill>
                  <a:srgbClr val="1F2937"/>
                </a:solidFill>
                <a:latin typeface="Arial"/>
              </a:defRPr>
            </a:pPr>
            <a:r>
              <a:t>•  [3] AIORI-3 Hackathon. PS-019: Personal-Data Discovery and Privacy Evidence Inventory. Official problem statement.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760720"/>
            <a:ext cx="10835640" cy="384048"/>
          </a:xfrm>
          <a:prstGeom prst="roundRect">
            <a:avLst/>
          </a:prstGeom>
          <a:solidFill>
            <a:srgbClr val="EA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833872"/>
            <a:ext cx="10424160" cy="228600"/>
          </a:xfrm>
          <a:prstGeom prst="rect">
            <a:avLst/>
          </a:prstGeom>
          <a:noFill/>
        </p:spPr>
        <p:txBody>
          <a:bodyPr wrap="square" lIns="18288" rIns="18288" tIns="4572" bIns="4572">
            <a:spAutoFit/>
          </a:bodyPr>
          <a:lstStyle/>
          <a:p>
            <a:pPr algn="l"/>
            <a:r>
              <a:rPr sz="1050">
                <a:solidFill>
                  <a:srgbClr val="123A8C"/>
                </a:solidFill>
                <a:latin typeface="Arial"/>
              </a:rPr>
              <a:t>References inform design choices; they do not certify compliance.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6A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00" b="1">
                <a:solidFill>
                  <a:srgbClr val="123A8C"/>
                </a:solidFill>
                <a:latin typeface="Arial"/>
              </a:rPr>
              <a:t>AIORI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900" b="1">
                <a:solidFill>
                  <a:srgbClr val="123A8C"/>
                </a:solidFill>
                <a:latin typeface="Arial"/>
              </a:rPr>
              <a:t>Thank You for Your Attention!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107899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16A6C0"/>
                </a:solidFill>
                <a:latin typeface="Arial"/>
              </a:rPr>
              <a:t>TraceLens  ·  A3-PS019-TC279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66160"/>
            <a:ext cx="1078992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Arial"/>
              </a:rPr>
              <a:t>Discover personal data. Trace its footprint. Explain the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107899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5B6470"/>
                </a:solidFill>
                <a:latin typeface="Arial"/>
              </a:rPr>
              <a:t>AIORI Hackathon 3  ·  Chitkara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